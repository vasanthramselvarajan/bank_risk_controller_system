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77E83A-410E-4C2F-A5DD-8837FE91393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767470-CB7E-4850-AF3C-CFA25F7CF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940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67470-CB7E-4850-AF3C-CFA25F7CF10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624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67A77-878C-4D6A-A76F-AA3173A4DE98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50DB-5AF2-427D-87E6-46EA774B2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738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67A77-878C-4D6A-A76F-AA3173A4DE98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50DB-5AF2-427D-87E6-46EA774B2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775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67A77-878C-4D6A-A76F-AA3173A4DE98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50DB-5AF2-427D-87E6-46EA774B2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529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67A77-878C-4D6A-A76F-AA3173A4DE98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50DB-5AF2-427D-87E6-46EA774B2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905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67A77-878C-4D6A-A76F-AA3173A4DE98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50DB-5AF2-427D-87E6-46EA774B2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439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67A77-878C-4D6A-A76F-AA3173A4DE98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50DB-5AF2-427D-87E6-46EA774B2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373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67A77-878C-4D6A-A76F-AA3173A4DE98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50DB-5AF2-427D-87E6-46EA774B2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11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67A77-878C-4D6A-A76F-AA3173A4DE98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50DB-5AF2-427D-87E6-46EA774B2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338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67A77-878C-4D6A-A76F-AA3173A4DE98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50DB-5AF2-427D-87E6-46EA774B2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97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67A77-878C-4D6A-A76F-AA3173A4DE98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50DB-5AF2-427D-87E6-46EA774B2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925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67A77-878C-4D6A-A76F-AA3173A4DE98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50DB-5AF2-427D-87E6-46EA774B21A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0947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67A77-878C-4D6A-A76F-AA3173A4DE98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50DB-5AF2-427D-87E6-46EA774B2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794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67A77-878C-4D6A-A76F-AA3173A4DE98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50DB-5AF2-427D-87E6-46EA774B21A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9576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67A77-878C-4D6A-A76F-AA3173A4DE98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50DB-5AF2-427D-87E6-46EA774B2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8873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67A77-878C-4D6A-A76F-AA3173A4DE98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50DB-5AF2-427D-87E6-46EA774B2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4628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67A77-878C-4D6A-A76F-AA3173A4DE98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C50DB-5AF2-427D-87E6-46EA774B2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092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67A77-878C-4D6A-A76F-AA3173A4DE98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BCC50DB-5AF2-427D-87E6-46EA774B2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752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3141-6C67-E14D-2A3D-41BA38D10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Bank Risk Controller System</a:t>
            </a:r>
            <a:r>
              <a:rPr lang="en-IN" dirty="0">
                <a:solidFill>
                  <a:schemeClr val="tx1"/>
                </a:solidFill>
              </a:rPr>
              <a:t>:</a:t>
            </a:r>
            <a:r>
              <a:rPr lang="en-IN" dirty="0"/>
              <a:t> Predicting Loan Defaulters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8B546-7009-137D-62FB-3A440DCB4E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A Classification Machine Learning Project</a:t>
            </a:r>
            <a:endParaRPr lang="en-IN" sz="2400" b="1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CD287E-2DA1-178B-EDF2-B3E5C043E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dirty="0"/>
              <a:t>Name</a:t>
            </a:r>
            <a:r>
              <a:rPr lang="en-US" dirty="0"/>
              <a:t> : Vasanth ram . S</a:t>
            </a:r>
          </a:p>
          <a:p>
            <a:pPr algn="l"/>
            <a:r>
              <a:rPr lang="en-US" b="1" dirty="0"/>
              <a:t>Batch</a:t>
            </a:r>
            <a:r>
              <a:rPr lang="en-US" dirty="0"/>
              <a:t> : MDTM28</a:t>
            </a:r>
          </a:p>
          <a:p>
            <a:r>
              <a:rPr lang="en-IN" b="1" dirty="0"/>
              <a:t>Date</a:t>
            </a:r>
            <a:r>
              <a:rPr lang="en-IN" dirty="0"/>
              <a:t>: October 15, 2025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3651344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317A0-B9A1-0DAE-4FE5-3D7B1F122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BF666-0A56-3F42-FF93-E43BA1C82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Core Problem:</a:t>
            </a:r>
            <a:r>
              <a:rPr lang="en-US" sz="2400" dirty="0"/>
              <a:t> Predict whether a customer will get a </a:t>
            </a:r>
            <a:r>
              <a:rPr lang="en-US" sz="2400" b="1" dirty="0"/>
              <a:t>default</a:t>
            </a:r>
            <a:r>
              <a:rPr lang="en-US" sz="2400" dirty="0"/>
              <a:t> or not.</a:t>
            </a:r>
          </a:p>
          <a:p>
            <a:r>
              <a:rPr lang="en-US" sz="2400" b="1" dirty="0"/>
              <a:t>Objective</a:t>
            </a:r>
            <a:r>
              <a:rPr lang="en-US" sz="2400" dirty="0"/>
              <a:t>:</a:t>
            </a:r>
          </a:p>
          <a:p>
            <a:pPr lvl="1"/>
            <a:r>
              <a:rPr lang="en-US" sz="2400" dirty="0"/>
              <a:t>To develop a robust and interactive data-driven solution for predicting loan default risks, leveraging advanced machine learning models and exploratory data analysis, while integrating a user-friendly </a:t>
            </a:r>
            <a:r>
              <a:rPr lang="en-US" sz="2400" dirty="0" err="1"/>
              <a:t>Streamlit</a:t>
            </a:r>
            <a:r>
              <a:rPr lang="en-US" sz="2400" dirty="0"/>
              <a:t> application for real-time insights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926541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FA8E3-9642-9993-D5F6-71918A3F6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overview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6BCAA-E8EA-AFB6-F0C7-08CA255F8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Data Source:</a:t>
            </a:r>
            <a:r>
              <a:rPr lang="en-US" sz="2400" dirty="0"/>
              <a:t> “Loan_data.csv” and “Data_dictionary.csv”. The dataset contains historical loan application data, including personal details and loan status.</a:t>
            </a:r>
          </a:p>
          <a:p>
            <a:r>
              <a:rPr lang="en-US" sz="2400" dirty="0"/>
              <a:t>With the help of it we used to predict the likelihood of loan default (binary classification: 0 for non-defaulters, 1 for defaulters)</a:t>
            </a:r>
            <a:r>
              <a:rPr lang="en-IN" sz="2400" dirty="0"/>
              <a:t>.</a:t>
            </a:r>
          </a:p>
          <a:p>
            <a:r>
              <a:rPr lang="en-IN" sz="2400" dirty="0"/>
              <a:t>It is an imbalance dataset, TARGET is mostly manipulated with non-defaulters, defaulters are 1/10 of the portion.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656391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AC199-B73E-CA31-EBAA-6AB580F48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cleaning and preprocessing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938C5-AB7E-2050-AA46-BBC3E91D9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High Null columns: There are few columns with large amount of null values, those columns are removed.</a:t>
            </a:r>
          </a:p>
          <a:p>
            <a:r>
              <a:rPr lang="en-US" sz="2000" dirty="0"/>
              <a:t>Firstly Object columns are treated with mode.</a:t>
            </a:r>
          </a:p>
          <a:p>
            <a:r>
              <a:rPr lang="en-US" sz="2000" dirty="0"/>
              <a:t>Numeric columns have been treated with median and mode.</a:t>
            </a:r>
          </a:p>
          <a:p>
            <a:r>
              <a:rPr lang="en-US" sz="2000" dirty="0"/>
              <a:t>Feature Reduction: we used multiple techniques to understand the importance of the feature to the prediction </a:t>
            </a:r>
          </a:p>
          <a:p>
            <a:r>
              <a:rPr lang="en-US" sz="2000" dirty="0"/>
              <a:t>Such as Chi2 test, Mutual info score and Feature important score from </a:t>
            </a:r>
            <a:r>
              <a:rPr lang="en-US" sz="2000" dirty="0" err="1"/>
              <a:t>RandomForest</a:t>
            </a:r>
            <a:r>
              <a:rPr lang="en-US" sz="2000" dirty="0"/>
              <a:t> model.</a:t>
            </a:r>
          </a:p>
          <a:p>
            <a:r>
              <a:rPr lang="en-US" sz="2000" dirty="0"/>
              <a:t>Finally with some domain knowledge and union of all techniques, we selected most important columns for the prediction.</a:t>
            </a:r>
          </a:p>
        </p:txBody>
      </p:sp>
    </p:spTree>
    <p:extLst>
      <p:ext uri="{BB962C8B-B14F-4D97-AF65-F5344CB8AC3E}">
        <p14:creationId xmlns:p14="http://schemas.microsoft.com/office/powerpoint/2010/main" val="1025186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07FEF-959B-4483-28FE-86CA18E1F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Exploratory Data Analysis (EDA)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72E6B-D2AC-A334-475C-F467AD255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26835"/>
            <a:ext cx="8596668" cy="5011590"/>
          </a:xfrm>
        </p:spPr>
        <p:txBody>
          <a:bodyPr>
            <a:normAutofit/>
          </a:bodyPr>
          <a:lstStyle/>
          <a:p>
            <a:r>
              <a:rPr lang="en-US" sz="2000" dirty="0"/>
              <a:t>Performed extensive EDA to understand distributions and relationships.</a:t>
            </a:r>
          </a:p>
          <a:p>
            <a:r>
              <a:rPr lang="en-US" sz="2000" dirty="0"/>
              <a:t>Feature engineered few columns like age category, income category, income credit ratio etc..</a:t>
            </a:r>
          </a:p>
          <a:p>
            <a:r>
              <a:rPr lang="en-US" sz="2000" dirty="0"/>
              <a:t>Outlier deduction, some of columns have outliers like “employed years” having 100+years , those outlier are removed with IQR method.</a:t>
            </a:r>
          </a:p>
          <a:p>
            <a:r>
              <a:rPr lang="en-US" sz="2000" dirty="0"/>
              <a:t>Data Visualization like :</a:t>
            </a:r>
          </a:p>
          <a:p>
            <a:r>
              <a:rPr lang="en-US" sz="2000" dirty="0"/>
              <a:t>Target distribution , categorical feature influence in target, gender distribution on target , relation b/w loan amount and income , age distribution by target </a:t>
            </a:r>
            <a:r>
              <a:rPr lang="en-US" sz="2000" dirty="0" err="1"/>
              <a:t>ect</a:t>
            </a:r>
            <a:r>
              <a:rPr lang="en-US" sz="2000" dirty="0"/>
              <a:t>…</a:t>
            </a:r>
          </a:p>
          <a:p>
            <a:r>
              <a:rPr lang="en-US" sz="2000" dirty="0"/>
              <a:t>Box plot for outliers , histogram with </a:t>
            </a:r>
            <a:r>
              <a:rPr lang="en-US" sz="2000" dirty="0" err="1"/>
              <a:t>kde</a:t>
            </a:r>
            <a:r>
              <a:rPr lang="en-US" sz="2000" dirty="0"/>
              <a:t> for data distribution, correlation heat map </a:t>
            </a:r>
            <a:r>
              <a:rPr lang="en-US" sz="2000" dirty="0" err="1"/>
              <a:t>etc</a:t>
            </a:r>
            <a:r>
              <a:rPr lang="en-US" sz="2000" dirty="0"/>
              <a:t>…</a:t>
            </a:r>
          </a:p>
          <a:p>
            <a:r>
              <a:rPr lang="en-US" sz="2000" dirty="0"/>
              <a:t>Label encoder and Ordinal encoders are used for categorical encoding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6659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8BB89-59CD-028B-178B-AAFF1C788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building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A6403-ADB4-1101-4939-2569F7624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Cleaned encoded data separated as values and target.</a:t>
            </a:r>
          </a:p>
          <a:p>
            <a:r>
              <a:rPr lang="en-US" sz="2000" dirty="0"/>
              <a:t>Due to the imbalance in target variable we used SMOTE (synthetic minority oversampling technique) to ensure both the classes are in the equal amounts.</a:t>
            </a:r>
          </a:p>
          <a:p>
            <a:r>
              <a:rPr lang="en-US" sz="2000" dirty="0"/>
              <a:t>Train test split done in resampled data , with 80% for training and 20% for testing.</a:t>
            </a:r>
          </a:p>
          <a:p>
            <a:r>
              <a:rPr lang="en-US" sz="2000" dirty="0"/>
              <a:t>All metrics and confusion matrix are made as user defined function for convenience.</a:t>
            </a:r>
          </a:p>
          <a:p>
            <a:r>
              <a:rPr lang="en-US" sz="2000" dirty="0"/>
              <a:t>Model training started with basic model and moved on to the advanced algorithms like bagging &amp; boosting.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69629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C89DF-EAD4-398A-FC7E-C49378BBE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Machine Learning Models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06F18-41BC-4E5B-6215-2E8F5968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/>
              <a:t>Models Used</a:t>
            </a:r>
            <a:r>
              <a:rPr lang="en-IN" sz="2000" dirty="0"/>
              <a:t>:</a:t>
            </a:r>
          </a:p>
          <a:p>
            <a:pPr lvl="1"/>
            <a:r>
              <a:rPr lang="en-IN" sz="2000" dirty="0"/>
              <a:t>Logistic Regression</a:t>
            </a:r>
          </a:p>
          <a:p>
            <a:pPr lvl="1"/>
            <a:r>
              <a:rPr lang="en-IN" sz="2000" dirty="0"/>
              <a:t>Decision Tree</a:t>
            </a:r>
          </a:p>
          <a:p>
            <a:pPr lvl="1"/>
            <a:r>
              <a:rPr lang="en-IN" sz="2000" dirty="0"/>
              <a:t>Random Forest</a:t>
            </a:r>
          </a:p>
          <a:p>
            <a:pPr lvl="1"/>
            <a:r>
              <a:rPr lang="en-IN" sz="2000" dirty="0"/>
              <a:t>Gradient Boosting (</a:t>
            </a:r>
            <a:r>
              <a:rPr lang="en-IN" sz="2000" dirty="0" err="1"/>
              <a:t>XGBoost</a:t>
            </a:r>
            <a:r>
              <a:rPr lang="en-IN" sz="2000" dirty="0"/>
              <a:t>, </a:t>
            </a:r>
            <a:r>
              <a:rPr lang="en-IN" sz="2000" dirty="0" err="1"/>
              <a:t>CatBoost</a:t>
            </a:r>
            <a:r>
              <a:rPr lang="en-IN" sz="2000" dirty="0"/>
              <a:t>)</a:t>
            </a:r>
          </a:p>
          <a:p>
            <a:r>
              <a:rPr lang="en-IN" sz="2000" b="1" dirty="0"/>
              <a:t>Performance Metrics</a:t>
            </a:r>
            <a:r>
              <a:rPr lang="en-IN" sz="2000" dirty="0"/>
              <a:t>:</a:t>
            </a:r>
          </a:p>
          <a:p>
            <a:pPr lvl="1"/>
            <a:r>
              <a:rPr lang="en-IN" sz="2000" dirty="0"/>
              <a:t>Accuracy, Precision, Recall, F1-Score, ROC-AUC.</a:t>
            </a:r>
          </a:p>
          <a:p>
            <a:r>
              <a:rPr lang="en-IN" sz="2000" b="1" dirty="0"/>
              <a:t>Best Model</a:t>
            </a:r>
            <a:r>
              <a:rPr lang="en-IN" sz="2000" dirty="0"/>
              <a:t>: Random Forest with 96% above in all metrics.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6480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86BDE-92D1-34F9-AE48-028A3A1EA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Model Performances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2B704D2-D583-7341-DDDD-1811FB7720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2704883"/>
              </p:ext>
            </p:extLst>
          </p:nvPr>
        </p:nvGraphicFramePr>
        <p:xfrm>
          <a:off x="677863" y="2160588"/>
          <a:ext cx="8596308" cy="32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718">
                  <a:extLst>
                    <a:ext uri="{9D8B030D-6E8A-4147-A177-3AD203B41FA5}">
                      <a16:colId xmlns:a16="http://schemas.microsoft.com/office/drawing/2014/main" val="1922959351"/>
                    </a:ext>
                  </a:extLst>
                </a:gridCol>
                <a:gridCol w="1432718">
                  <a:extLst>
                    <a:ext uri="{9D8B030D-6E8A-4147-A177-3AD203B41FA5}">
                      <a16:colId xmlns:a16="http://schemas.microsoft.com/office/drawing/2014/main" val="3503909213"/>
                    </a:ext>
                  </a:extLst>
                </a:gridCol>
                <a:gridCol w="1432718">
                  <a:extLst>
                    <a:ext uri="{9D8B030D-6E8A-4147-A177-3AD203B41FA5}">
                      <a16:colId xmlns:a16="http://schemas.microsoft.com/office/drawing/2014/main" val="2972817841"/>
                    </a:ext>
                  </a:extLst>
                </a:gridCol>
                <a:gridCol w="1432718">
                  <a:extLst>
                    <a:ext uri="{9D8B030D-6E8A-4147-A177-3AD203B41FA5}">
                      <a16:colId xmlns:a16="http://schemas.microsoft.com/office/drawing/2014/main" val="3850003137"/>
                    </a:ext>
                  </a:extLst>
                </a:gridCol>
                <a:gridCol w="1432718">
                  <a:extLst>
                    <a:ext uri="{9D8B030D-6E8A-4147-A177-3AD203B41FA5}">
                      <a16:colId xmlns:a16="http://schemas.microsoft.com/office/drawing/2014/main" val="652494804"/>
                    </a:ext>
                  </a:extLst>
                </a:gridCol>
                <a:gridCol w="1432718">
                  <a:extLst>
                    <a:ext uri="{9D8B030D-6E8A-4147-A177-3AD203B41FA5}">
                      <a16:colId xmlns:a16="http://schemas.microsoft.com/office/drawing/2014/main" val="40381025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Accuracy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Precision</a:t>
                      </a:r>
                      <a:endParaRPr lang="en-IN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Recall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F1-Score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ROC-AUC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432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56.86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56.69</a:t>
                      </a:r>
                    </a:p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58.53</a:t>
                      </a:r>
                    </a:p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57.59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59.12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415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Decision Tree</a:t>
                      </a:r>
                      <a:endParaRPr lang="en-IN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93.33</a:t>
                      </a:r>
                    </a:p>
                    <a:p>
                      <a:pPr algn="ctr"/>
                      <a:endParaRPr lang="en-IN" dirty="0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92.58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94.22</a:t>
                      </a:r>
                    </a:p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93.39</a:t>
                      </a:r>
                    </a:p>
                    <a:p>
                      <a:pPr algn="ctr"/>
                      <a:endParaRPr lang="en-IN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93.33</a:t>
                      </a:r>
                    </a:p>
                    <a:p>
                      <a:pPr algn="ctr"/>
                      <a:endParaRPr lang="en-IN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3298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Random Forest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96.78</a:t>
                      </a:r>
                    </a:p>
                    <a:p>
                      <a:pPr algn="ctr"/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96.80</a:t>
                      </a:r>
                    </a:p>
                    <a:p>
                      <a:pPr algn="ctr"/>
                      <a:endParaRPr lang="en-IN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96.77</a:t>
                      </a:r>
                    </a:p>
                    <a:p>
                      <a:pPr algn="ctr"/>
                      <a:endParaRPr lang="en-IN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96.78</a:t>
                      </a:r>
                    </a:p>
                    <a:p>
                      <a:pPr algn="ctr"/>
                      <a:endParaRPr lang="en-IN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99.61</a:t>
                      </a:r>
                    </a:p>
                    <a:p>
                      <a:pPr algn="ctr"/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813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Extended Gradient Boost</a:t>
                      </a:r>
                      <a:endParaRPr lang="en-IN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75.93</a:t>
                      </a:r>
                    </a:p>
                    <a:p>
                      <a:pPr algn="ctr"/>
                      <a:endParaRPr lang="en-IN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76.23</a:t>
                      </a:r>
                    </a:p>
                    <a:p>
                      <a:pPr algn="ctr"/>
                      <a:endParaRPr lang="en-IN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75.44</a:t>
                      </a:r>
                    </a:p>
                    <a:p>
                      <a:pPr algn="ctr"/>
                      <a:endParaRPr lang="en-IN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75.83</a:t>
                      </a:r>
                    </a:p>
                    <a:p>
                      <a:pPr algn="ctr"/>
                      <a:endParaRPr lang="en-IN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76.64</a:t>
                      </a:r>
                    </a:p>
                    <a:p>
                      <a:pPr algn="ctr"/>
                      <a:endParaRPr lang="en-IN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0854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7683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AF550-CA5C-7722-676E-9FBD83D0F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Important Features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4995E2-010A-8CA7-0EA2-94B7518121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746" y="1659988"/>
            <a:ext cx="8801256" cy="477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361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F02DA-3E67-441A-6E6E-E9A0705E3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709" y="12895"/>
            <a:ext cx="8596668" cy="746760"/>
          </a:xfrm>
        </p:spPr>
        <p:txBody>
          <a:bodyPr/>
          <a:lstStyle/>
          <a:p>
            <a:r>
              <a:rPr lang="en-US" b="1" dirty="0" err="1"/>
              <a:t>Streamlit</a:t>
            </a:r>
            <a:r>
              <a:rPr lang="en-US" b="1" dirty="0"/>
              <a:t> - bank app</a:t>
            </a:r>
            <a:endParaRPr lang="en-IN" b="1" dirty="0"/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72C3063B-12D8-301E-79C5-9555F29C51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1" y="759655"/>
            <a:ext cx="5327730" cy="2948764"/>
          </a:xfrm>
          <a:ln>
            <a:solidFill>
              <a:schemeClr val="accent2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C6E6668-347C-34F2-5718-E345DF94D7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1811" y="759655"/>
            <a:ext cx="6044036" cy="2948764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411A13D-1F46-573A-8F32-43611D1C46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1" y="3785995"/>
            <a:ext cx="5327729" cy="2896160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4DF1850-408E-2113-2037-F35D98F1E7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1811" y="3785994"/>
            <a:ext cx="6044036" cy="2896159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507373626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4B774-A3C6-C78B-BEFE-49B577B11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Movie Recommendation System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151CD-C9F8-7C74-A286-01E9A746C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33379"/>
            <a:ext cx="9296660" cy="5134708"/>
          </a:xfrm>
        </p:spPr>
        <p:txBody>
          <a:bodyPr>
            <a:normAutofit/>
          </a:bodyPr>
          <a:lstStyle/>
          <a:p>
            <a:r>
              <a:rPr lang="en-US" dirty="0"/>
              <a:t>Provide personalized movie suggestions based on user preferences.</a:t>
            </a:r>
          </a:p>
          <a:p>
            <a:r>
              <a:rPr lang="en-IN" b="1" dirty="0"/>
              <a:t>Technique Used</a:t>
            </a:r>
            <a:r>
              <a:rPr lang="en-IN" dirty="0"/>
              <a:t>: Content-based filtering.</a:t>
            </a:r>
          </a:p>
          <a:p>
            <a:r>
              <a:rPr lang="en-IN" b="1" dirty="0"/>
              <a:t>Algorithm</a:t>
            </a:r>
            <a:r>
              <a:rPr lang="en-IN" dirty="0"/>
              <a:t>: TF-IDF (Term Frequency-Inverse Document Frequency) vectorization combined with Cosine Similarity.</a:t>
            </a:r>
          </a:p>
          <a:p>
            <a:r>
              <a:rPr lang="en-IN" b="1" dirty="0"/>
              <a:t>Data Source</a:t>
            </a:r>
            <a:r>
              <a:rPr lang="en-IN" dirty="0"/>
              <a:t>: Two Movie dataset - Movies and Credits Are downloaded from Kaggle.</a:t>
            </a:r>
          </a:p>
          <a:p>
            <a:r>
              <a:rPr lang="en-IN" b="1" dirty="0"/>
              <a:t>Implementation Steps :</a:t>
            </a:r>
          </a:p>
          <a:p>
            <a:pPr lvl="1"/>
            <a:r>
              <a:rPr lang="en-IN" sz="1800" b="1" dirty="0"/>
              <a:t>Preprocessing : </a:t>
            </a:r>
            <a:r>
              <a:rPr lang="en-US" sz="1800" dirty="0"/>
              <a:t>Cleaned and tokenized movie descriptions and Combined relevant features (e.g., genres, keywords) into a single text field.</a:t>
            </a:r>
          </a:p>
          <a:p>
            <a:pPr lvl="1"/>
            <a:r>
              <a:rPr lang="en-IN" sz="1800" b="1" dirty="0"/>
              <a:t>Vectorization : </a:t>
            </a:r>
            <a:r>
              <a:rPr lang="en-US" sz="1800" dirty="0"/>
              <a:t>Converted text data into numerical vectors to represent the importance of terms. </a:t>
            </a:r>
          </a:p>
          <a:p>
            <a:pPr lvl="1"/>
            <a:r>
              <a:rPr lang="en-IN" sz="1800" b="1" dirty="0"/>
              <a:t>Cosine Similarity : </a:t>
            </a:r>
            <a:r>
              <a:rPr lang="en-US" sz="1800" dirty="0"/>
              <a:t>Measured the similarity between movies based on their vectorized representations.</a:t>
            </a:r>
          </a:p>
          <a:p>
            <a:pPr lvl="1"/>
            <a:r>
              <a:rPr lang="en-US" sz="1800" b="1" dirty="0"/>
              <a:t>Recommendation Logic</a:t>
            </a:r>
            <a:r>
              <a:rPr lang="en-US" dirty="0"/>
              <a:t>: For a given movie, identified the top N most similar movies using similarity scores.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4629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88DD5-881E-922A-26B1-19AF3D802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93" y="117231"/>
            <a:ext cx="8596668" cy="797169"/>
          </a:xfrm>
        </p:spPr>
        <p:txBody>
          <a:bodyPr/>
          <a:lstStyle/>
          <a:p>
            <a:r>
              <a:rPr lang="en-US" b="1" dirty="0"/>
              <a:t>Movie Recommendation app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8F6332-EEB2-4E69-5CB1-4EE5C0CD1A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48" y="914401"/>
            <a:ext cx="6649827" cy="3024554"/>
          </a:xfr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556571-DAC7-15E7-1190-8C336E27F3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714" y="4051495"/>
            <a:ext cx="7188589" cy="268927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87544690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905B1-94AF-42A7-CD11-D2EE75085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Technologies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ADE69-01A7-29BE-3085-175C96722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Programming Language</a:t>
            </a:r>
            <a:r>
              <a:rPr lang="en-IN" sz="2400" dirty="0"/>
              <a:t>: </a:t>
            </a:r>
            <a:r>
              <a:rPr lang="en-IN" sz="2400" b="1" dirty="0"/>
              <a:t>Python</a:t>
            </a:r>
          </a:p>
          <a:p>
            <a:r>
              <a:rPr lang="en-IN" sz="2400" b="1" dirty="0"/>
              <a:t>Libraries</a:t>
            </a:r>
            <a:r>
              <a:rPr lang="en-IN" sz="2400" dirty="0"/>
              <a:t>:</a:t>
            </a:r>
          </a:p>
          <a:p>
            <a:pPr lvl="1"/>
            <a:r>
              <a:rPr lang="en-IN" sz="2400" dirty="0"/>
              <a:t>Data Analysis: </a:t>
            </a:r>
            <a:r>
              <a:rPr lang="en-IN" sz="2400" b="1" dirty="0"/>
              <a:t>Pandas, NumPy</a:t>
            </a:r>
          </a:p>
          <a:p>
            <a:pPr lvl="1"/>
            <a:r>
              <a:rPr lang="en-IN" sz="2400" dirty="0"/>
              <a:t>Visualization: </a:t>
            </a:r>
            <a:r>
              <a:rPr lang="en-IN" sz="2400" b="1" dirty="0"/>
              <a:t>Matplotlib, Seaborn, </a:t>
            </a:r>
            <a:r>
              <a:rPr lang="en-IN" sz="2400" b="1" dirty="0" err="1"/>
              <a:t>Plotly</a:t>
            </a:r>
            <a:endParaRPr lang="en-IN" sz="2400" b="1" dirty="0"/>
          </a:p>
          <a:p>
            <a:pPr lvl="1"/>
            <a:r>
              <a:rPr lang="en-IN" sz="2400" dirty="0"/>
              <a:t>Machine Learning: </a:t>
            </a:r>
            <a:r>
              <a:rPr lang="en-IN" sz="2400" b="1" dirty="0"/>
              <a:t>Scikit-learn, </a:t>
            </a:r>
            <a:r>
              <a:rPr lang="en-IN" sz="2400" b="1" dirty="0" err="1"/>
              <a:t>XGBoost</a:t>
            </a:r>
            <a:r>
              <a:rPr lang="en-IN" sz="2400" b="1" dirty="0"/>
              <a:t>, </a:t>
            </a:r>
            <a:r>
              <a:rPr lang="en-IN" sz="2400" b="1" dirty="0" err="1"/>
              <a:t>CatBoost</a:t>
            </a:r>
            <a:endParaRPr lang="en-IN" sz="2400" dirty="0"/>
          </a:p>
          <a:p>
            <a:pPr lvl="1"/>
            <a:r>
              <a:rPr lang="en-IN" sz="2400" dirty="0"/>
              <a:t>App Development: </a:t>
            </a:r>
            <a:r>
              <a:rPr lang="en-IN" sz="2400" b="1" dirty="0" err="1"/>
              <a:t>Streamlit</a:t>
            </a:r>
            <a:endParaRPr lang="en-IN" sz="2400" b="1" dirty="0"/>
          </a:p>
          <a:p>
            <a:pPr lvl="1"/>
            <a:r>
              <a:rPr lang="en-IN" sz="2400" dirty="0"/>
              <a:t>Other Tools: </a:t>
            </a:r>
            <a:r>
              <a:rPr lang="en-IN" sz="2400" b="1" dirty="0"/>
              <a:t>Pickle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57434060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C7112-A884-0A60-7674-4CC8C583A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611C2-0B60-DEE4-519E-41B2D809E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Built a robust system for loan prediction and risk analysis.</a:t>
            </a:r>
          </a:p>
          <a:p>
            <a:r>
              <a:rPr lang="en-US" sz="2800" dirty="0"/>
              <a:t>Integrated EDA, machine learning, and a simple recommendation system.</a:t>
            </a:r>
          </a:p>
          <a:p>
            <a:r>
              <a:rPr lang="en-US" sz="2800" dirty="0"/>
              <a:t>The project is also deployed as </a:t>
            </a:r>
            <a:r>
              <a:rPr lang="en-IN" sz="2800" dirty="0"/>
              <a:t>application</a:t>
            </a:r>
            <a:r>
              <a:rPr lang="en-US" sz="2800" dirty="0"/>
              <a:t>, making it ready for real-world use.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476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8056DA-E861-A365-4919-C0932168A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688" y="2768600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Happy to discuss more in the Q&amp;A.</a:t>
            </a:r>
            <a:br>
              <a:rPr lang="en-US" sz="4000" dirty="0"/>
            </a:br>
            <a:r>
              <a:rPr lang="en-US" sz="4000" dirty="0">
                <a:solidFill>
                  <a:schemeClr val="accent2">
                    <a:lumMod val="50000"/>
                  </a:schemeClr>
                </a:solidFill>
              </a:rPr>
              <a:t>Thank you</a:t>
            </a:r>
            <a:endParaRPr lang="en-IN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5349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Facet">
    <a:dk1>
      <a:sysClr val="windowText" lastClr="000000"/>
    </a:dk1>
    <a:lt1>
      <a:sysClr val="window" lastClr="FFFFFF"/>
    </a:lt1>
    <a:dk2>
      <a:srgbClr val="2C3C43"/>
    </a:dk2>
    <a:lt2>
      <a:srgbClr val="EBEBEB"/>
    </a:lt2>
    <a:accent1>
      <a:srgbClr val="90C226"/>
    </a:accent1>
    <a:accent2>
      <a:srgbClr val="54A021"/>
    </a:accent2>
    <a:accent3>
      <a:srgbClr val="E6B91E"/>
    </a:accent3>
    <a:accent4>
      <a:srgbClr val="E76618"/>
    </a:accent4>
    <a:accent5>
      <a:srgbClr val="C42F1A"/>
    </a:accent5>
    <a:accent6>
      <a:srgbClr val="918655"/>
    </a:accent6>
    <a:hlink>
      <a:srgbClr val="99CA3C"/>
    </a:hlink>
    <a:folHlink>
      <a:srgbClr val="B9D18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</TotalTime>
  <Words>775</Words>
  <Application>Microsoft Office PowerPoint</Application>
  <PresentationFormat>Widescreen</PresentationFormat>
  <Paragraphs>102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Trebuchet MS</vt:lpstr>
      <vt:lpstr>Wingdings 3</vt:lpstr>
      <vt:lpstr>Facet</vt:lpstr>
      <vt:lpstr>Bank Risk Controller System: Predicting Loan Defaulters</vt:lpstr>
      <vt:lpstr>Project Overview</vt:lpstr>
      <vt:lpstr>Dataset overview</vt:lpstr>
      <vt:lpstr>Data cleaning and preprocessing</vt:lpstr>
      <vt:lpstr>Exploratory Data Analysis (EDA) </vt:lpstr>
      <vt:lpstr>Model building</vt:lpstr>
      <vt:lpstr>Machine Learning Models </vt:lpstr>
      <vt:lpstr>Model Performances </vt:lpstr>
      <vt:lpstr>Important Features</vt:lpstr>
      <vt:lpstr>Streamlit - bank app</vt:lpstr>
      <vt:lpstr>Movie Recommendation System </vt:lpstr>
      <vt:lpstr>Movie Recommendation app</vt:lpstr>
      <vt:lpstr>Technologies Used</vt:lpstr>
      <vt:lpstr>Conclusion</vt:lpstr>
      <vt:lpstr>Happy to discuss more in the Q&amp;A.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4</cp:revision>
  <dcterms:created xsi:type="dcterms:W3CDTF">2025-10-14T18:26:32Z</dcterms:created>
  <dcterms:modified xsi:type="dcterms:W3CDTF">2025-10-16T12:50:18Z</dcterms:modified>
</cp:coreProperties>
</file>